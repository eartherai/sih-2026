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737360"/>
          </a:xfrm>
          <a:prstGeom prst="rect">
            <a:avLst/>
          </a:prstGeom>
          <a:solidFill>
            <a:srgbClr val="08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737360"/>
            <a:ext cx="12191695" cy="27940"/>
          </a:xfrm>
          <a:prstGeom prst="rect">
            <a:avLst/>
          </a:prstGeom>
          <a:solidFill>
            <a:srgbClr val="2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DE0D8"/>
                </a:solidFill>
                <a:latin typeface="Calibri"/>
              </a:rPr>
              <a:t>SMART INDIA HACKATHON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8912"/>
            <a:ext cx="10515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2F7FA"/>
                </a:solidFill>
                <a:latin typeface="Calibri"/>
              </a:rPr>
              <a:t>AQUA-SHIELD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207008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2DE0D8"/>
                </a:solidFill>
                <a:latin typeface="Calibri"/>
              </a:rPr>
              <a:t>Detection → Verification → Localization → Action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65960"/>
            <a:ext cx="1060704" cy="310896"/>
          </a:xfrm>
          <a:prstGeom prst="roundRect">
            <a:avLst>
              <a:gd name="adj" fmla="val 50000"/>
            </a:avLst>
          </a:prstGeom>
          <a:solidFill>
            <a:srgbClr val="16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150" b="1">
                <a:solidFill>
                  <a:srgbClr val="F2F7FA"/>
                </a:solidFill>
                <a:latin typeface="Calibri"/>
              </a:rPr>
              <a:t>PS 26057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09928" y="1965960"/>
            <a:ext cx="1321307" cy="310896"/>
          </a:xfrm>
          <a:prstGeom prst="roundRect">
            <a:avLst>
              <a:gd name="adj" fmla="val 50000"/>
            </a:avLst>
          </a:prstGeom>
          <a:solidFill>
            <a:srgbClr val="16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150" b="1">
                <a:solidFill>
                  <a:srgbClr val="F2F7FA"/>
                </a:solidFill>
                <a:latin typeface="Calibri"/>
              </a:rPr>
              <a:t>MoES / NIOT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77539" y="1965960"/>
            <a:ext cx="1060704" cy="310896"/>
          </a:xfrm>
          <a:prstGeom prst="roundRect">
            <a:avLst>
              <a:gd name="adj" fmla="val 50000"/>
            </a:avLst>
          </a:prstGeom>
          <a:solidFill>
            <a:srgbClr val="16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150" b="1">
                <a:solidFill>
                  <a:srgbClr val="F2F7FA"/>
                </a:solidFill>
                <a:latin typeface="Calibri"/>
              </a:rPr>
              <a:t>Software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4547" y="1965960"/>
            <a:ext cx="2016252" cy="310896"/>
          </a:xfrm>
          <a:prstGeom prst="roundRect">
            <a:avLst>
              <a:gd name="adj" fmla="val 50000"/>
            </a:avLst>
          </a:prstGeom>
          <a:solidFill>
            <a:srgbClr val="16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150" b="1">
                <a:solidFill>
                  <a:srgbClr val="F2F7FA"/>
                </a:solidFill>
                <a:latin typeface="Calibri"/>
              </a:rPr>
              <a:t>Disaster Management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B341"/>
                </a:solidFill>
                <a:latin typeface="Calibri"/>
              </a:rPr>
              <a:t>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880360"/>
            <a:ext cx="63093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50" b="1">
                <a:solidFill>
                  <a:srgbClr val="2DE0D8"/>
                </a:solidFill>
                <a:latin typeface="Calibri"/>
              </a:rPr>
              <a:t>▸  </a:t>
            </a:r>
            <a:r>
              <a:rPr sz="1350" b="0">
                <a:solidFill>
                  <a:srgbClr val="F2F7FA"/>
                </a:solidFill>
                <a:latin typeface="Calibri"/>
              </a:rPr>
              <a:t>Ghost nets and derelict fishing gear keep killing after they are lost — entangling marine life, smothering reefs, fouling propellers.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50" b="1">
                <a:solidFill>
                  <a:srgbClr val="2DE0D8"/>
                </a:solidFill>
                <a:latin typeface="Calibri"/>
              </a:rPr>
              <a:t>▸  </a:t>
            </a:r>
            <a:r>
              <a:rPr sz="1350" b="0">
                <a:solidFill>
                  <a:srgbClr val="F2F7FA"/>
                </a:solidFill>
                <a:latin typeface="Calibri"/>
              </a:rPr>
              <a:t>Finding them today means a human reading thousands of kilometres of side-scan sonar (SSS) imagery by eye.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50" b="1">
                <a:solidFill>
                  <a:srgbClr val="2DE0D8"/>
                </a:solidFill>
                <a:latin typeface="Calibri"/>
              </a:rPr>
              <a:t>▸  </a:t>
            </a:r>
            <a:r>
              <a:rPr sz="1350" b="0">
                <a:solidFill>
                  <a:srgbClr val="F2F7FA"/>
                </a:solidFill>
                <a:latin typeface="Calibri"/>
              </a:rPr>
              <a:t>The real difficulty is not detection.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50" b="0">
                <a:solidFill>
                  <a:srgbClr val="6E8499"/>
                </a:solidFill>
                <a:latin typeface="Calibri"/>
              </a:rPr>
              <a:t>    –  </a:t>
            </a:r>
            <a:r>
              <a:rPr sz="1300" i="0" b="0">
                <a:solidFill>
                  <a:srgbClr val="F5B341"/>
                </a:solidFill>
                <a:latin typeface="Calibri"/>
              </a:rPr>
              <a:t>74% of sonar frames contain no target at all — a system that fires on a fraction of those is worse than useless. The analyst stops trusting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50" b="1">
                <a:solidFill>
                  <a:srgbClr val="2DE0D8"/>
                </a:solidFill>
                <a:latin typeface="Calibri"/>
              </a:rPr>
              <a:t>▸  </a:t>
            </a:r>
            <a:r>
              <a:rPr sz="1350" b="1">
                <a:solidFill>
                  <a:srgbClr val="5DD98B"/>
                </a:solidFill>
                <a:latin typeface="Calibri"/>
              </a:rPr>
              <a:t>Precision, not recall, is the binding constraint. That governs every design choice in this project.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25146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DE0D8"/>
                </a:solidFill>
                <a:latin typeface="Calibri"/>
              </a:rPr>
              <a:t>OUR SOLUTION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2880360"/>
            <a:ext cx="42976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2DE0D8"/>
                </a:solidFill>
                <a:latin typeface="Calibri"/>
              </a:rPr>
              <a:t>▸  </a:t>
            </a:r>
            <a:r>
              <a:rPr sz="1300" b="0">
                <a:solidFill>
                  <a:srgbClr val="F2F7FA"/>
                </a:solidFill>
                <a:latin typeface="Calibri"/>
              </a:rPr>
              <a:t>A local-first pipeline: Detect → Verify against physical evidence → Calibrate confidence → Deduplicate repeat sightings → Geolocate (or refuse) → Prioritise → Export.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2DE0D8"/>
                </a:solidFill>
                <a:latin typeface="Calibri"/>
              </a:rPr>
              <a:t>▸  </a:t>
            </a:r>
            <a:r>
              <a:rPr sz="1300" b="0">
                <a:solidFill>
                  <a:srgbClr val="F2F7FA"/>
                </a:solidFill>
                <a:latin typeface="Calibri"/>
              </a:rPr>
              <a:t>Runs fully offline on a single laptop — no cloud, no per-image cost, no data leaving the vessel.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2DE0D8"/>
                </a:solidFill>
                <a:latin typeface="Calibri"/>
              </a:rPr>
              <a:t>▸  </a:t>
            </a:r>
            <a:r>
              <a:rPr sz="1300" b="0">
                <a:solidFill>
                  <a:srgbClr val="F2F7FA"/>
                </a:solidFill>
                <a:latin typeface="Calibri"/>
              </a:rPr>
              <a:t>Built for two datasets so far: naval mine-like objects (MILCO/NOMBO) and derelict crab-pot ghost gear.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B9EA8"/>
                </a:solidFill>
                <a:latin typeface="Calibri"/>
              </a:rPr>
              <a:t>AQUA-SHIELD</a:t>
            </a:r>
            <a:r>
              <a:rPr sz="950" b="0" i="0">
                <a:solidFill>
                  <a:srgbClr val="6E8499"/>
                </a:solidFill>
                <a:latin typeface="Calibri"/>
              </a:rPr>
              <a:t>  ·  PS 26057  ·  MoES / NIOT  ·  Disaster Management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E8499"/>
                </a:solidFill>
                <a:latin typeface="Calibri"/>
              </a:rPr>
              <a:t>1/6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8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27940"/>
          </a:xfrm>
          <a:prstGeom prst="rect">
            <a:avLst/>
          </a:prstGeom>
          <a:solidFill>
            <a:srgbClr val="2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8016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DE0D8"/>
                </a:solidFill>
                <a:latin typeface="Calibri"/>
              </a:rPr>
              <a:t>IDEA &amp; INNOVATION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0515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2F7FA"/>
                </a:solidFill>
                <a:latin typeface="Calibri"/>
              </a:rPr>
              <a:t>What's actually 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11155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B341"/>
                </a:solidFill>
                <a:latin typeface="Calibri"/>
              </a:rPr>
              <a:t>What we do NOT claim: </a:t>
            </a:r>
            <a:r>
              <a:rPr sz="1300" b="0" i="1">
                <a:solidFill>
                  <a:srgbClr val="9FB3C8"/>
                </a:solidFill>
                <a:latin typeface="Calibri"/>
              </a:rPr>
              <a:t>sonar debris detection itself is not novel — GhostVision (JMSE 2025) already does detection + georeferencing for derelict gear. We say so in our own repository.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74519"/>
            <a:ext cx="3310128" cy="1965960"/>
          </a:xfrm>
          <a:prstGeom prst="rect">
            <a:avLst/>
          </a:prstGeom>
          <a:solidFill>
            <a:srgbClr val="112A44"/>
          </a:solidFill>
          <a:ln w="12700">
            <a:solidFill>
              <a:srgbClr val="16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984247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2DE0D8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350007"/>
            <a:ext cx="298094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2F7FA"/>
                </a:solidFill>
                <a:latin typeface="Calibri"/>
              </a:rPr>
              <a:t>A learned false-positive filter over physical 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862071"/>
            <a:ext cx="298094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80" b="0" i="0">
                <a:solidFill>
                  <a:srgbClr val="9FB3C8"/>
                </a:solidFill>
                <a:latin typeface="Calibri"/>
              </a:rPr>
              <a:t>Ten features measured directly from pixels — shadow coherence, contrast, compactness, relative texture — independent of the detector's own opinion. Fitted on a held-out survey, with per-detection attribution.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7640" y="1874519"/>
            <a:ext cx="3310128" cy="1965960"/>
          </a:xfrm>
          <a:prstGeom prst="rect">
            <a:avLst/>
          </a:prstGeom>
          <a:solidFill>
            <a:srgbClr val="112A44"/>
          </a:solidFill>
          <a:ln w="12700">
            <a:solidFill>
              <a:srgbClr val="16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42232" y="1984247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2DE0D8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42232" y="2350007"/>
            <a:ext cx="298094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2F7FA"/>
                </a:solidFill>
                <a:latin typeface="Calibri"/>
              </a:rPr>
              <a:t>Confidence that means something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2232" y="2862071"/>
            <a:ext cx="298094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80" b="0" i="0">
                <a:solidFill>
                  <a:srgbClr val="9FB3C8"/>
                </a:solidFill>
                <a:latin typeface="Calibri"/>
              </a:rPr>
              <a:t>Platt calibration fitted on held-out data. When it isn't fitted, every hazard is stamped calibrated: false — never a silently-wrong number.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005071"/>
            <a:ext cx="3310128" cy="1965960"/>
          </a:xfrm>
          <a:prstGeom prst="rect">
            <a:avLst/>
          </a:prstGeom>
          <a:solidFill>
            <a:srgbClr val="112A44"/>
          </a:solidFill>
          <a:ln w="12700">
            <a:solidFill>
              <a:srgbClr val="16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" y="4114799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2DE0D8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" y="4480559"/>
            <a:ext cx="298094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2F7FA"/>
                </a:solidFill>
                <a:latin typeface="Calibri"/>
              </a:rPr>
              <a:t>Refusal as a feature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4992623"/>
            <a:ext cx="298094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80" b="0" i="0">
                <a:solidFill>
                  <a:srgbClr val="9FB3C8"/>
                </a:solidFill>
                <a:latin typeface="Calibri"/>
              </a:rPr>
              <a:t>No navigation metadata → no coordinate. null, plus the reason. A fabricated latitude exports cleanly to CSV and sends a cleanup vessel to open water.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77640" y="4005071"/>
            <a:ext cx="3310128" cy="1965960"/>
          </a:xfrm>
          <a:prstGeom prst="rect">
            <a:avLst/>
          </a:prstGeom>
          <a:solidFill>
            <a:srgbClr val="112A44"/>
          </a:solidFill>
          <a:ln w="12700">
            <a:solidFill>
              <a:srgbClr val="16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42232" y="4114799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2DE0D8"/>
                </a:solidFill>
                <a:latin typeface="Calibr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42232" y="4480559"/>
            <a:ext cx="298094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2F7FA"/>
                </a:solidFill>
                <a:latin typeface="Calibri"/>
              </a:rPr>
              <a:t>Confidence ≠ Priority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42232" y="4992623"/>
            <a:ext cx="298094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80" b="0" i="0">
                <a:solidFill>
                  <a:srgbClr val="9FB3C8"/>
                </a:solidFill>
                <a:latin typeface="Calibri"/>
              </a:rPr>
              <a:t>“Is it real?” and “should you care?” are treated as two different questions, scored separately.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35240" y="1874519"/>
            <a:ext cx="4041648" cy="4114800"/>
          </a:xfrm>
          <a:prstGeom prst="rect">
            <a:avLst/>
          </a:prstGeom>
          <a:solidFill>
            <a:srgbClr val="081422"/>
          </a:solidFill>
          <a:ln w="15875">
            <a:solidFill>
              <a:srgbClr val="F5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18120" y="20116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5B341"/>
                </a:solidFill>
                <a:latin typeface="Calibri"/>
              </a:rPr>
              <a:t>ITS WEIGHTS CAUGHT A BUG IN OUR OWN PIPELINE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8120" y="2423160"/>
            <a:ext cx="365760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180" b="1">
                <a:solidFill>
                  <a:srgbClr val="2DE0D8"/>
                </a:solidFill>
                <a:latin typeface="Calibri"/>
              </a:rPr>
              <a:t>▸  </a:t>
            </a:r>
            <a:r>
              <a:rPr sz="1180" b="0">
                <a:solidFill>
                  <a:srgbClr val="F2F7FA"/>
                </a:solidFill>
                <a:latin typeface="Calibri"/>
              </a:rPr>
              <a:t>An early fit gave acoustic shadow a large NEGATIVE weight — the opposite of the physics.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180" b="1">
                <a:solidFill>
                  <a:srgbClr val="2DE0D8"/>
                </a:solidFill>
                <a:latin typeface="Calibri"/>
              </a:rPr>
              <a:t>▸  </a:t>
            </a:r>
            <a:r>
              <a:rPr sz="1180" b="0">
                <a:solidFill>
                  <a:srgbClr val="F2F7FA"/>
                </a:solidFill>
                <a:latin typeface="Calibri"/>
              </a:rPr>
              <a:t>Root cause: a preprocessing chain applied at inference that the detector had never been trained on.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180" b="1">
                <a:solidFill>
                  <a:srgbClr val="2DE0D8"/>
                </a:solidFill>
                <a:latin typeface="Calibri"/>
              </a:rPr>
              <a:t>▸  </a:t>
            </a:r>
            <a:r>
              <a:rPr sz="1180" b="1">
                <a:solidFill>
                  <a:srgbClr val="5DD98B"/>
                </a:solidFill>
                <a:latin typeface="Calibri"/>
              </a:rPr>
              <a:t>Fixing the mismatch recovered a 12× F1 improvement (0.012 → 0.144) and turned both shadow features positive again.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20" y="507492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2DE0D8"/>
                </a:solidFill>
                <a:latin typeface="Calibri"/>
              </a:rPr>
              <a:t>An inspectable verification stage is a diagnostic instrument, not just a classifier — a hand-tuned threshold would have hidden the same defect silently.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B9EA8"/>
                </a:solidFill>
                <a:latin typeface="Calibri"/>
              </a:rPr>
              <a:t>AQUA-SHIELD</a:t>
            </a:r>
            <a:r>
              <a:rPr sz="950" b="0" i="0">
                <a:solidFill>
                  <a:srgbClr val="6E8499"/>
                </a:solidFill>
                <a:latin typeface="Calibri"/>
              </a:rPr>
              <a:t>  ·  PS 26057  ·  MoES / NIOT  ·  Disaster Management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E8499"/>
                </a:solidFill>
                <a:latin typeface="Calibri"/>
              </a:rPr>
              <a:t>2/6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8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27940"/>
          </a:xfrm>
          <a:prstGeom prst="rect">
            <a:avLst/>
          </a:prstGeom>
          <a:solidFill>
            <a:srgbClr val="2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8016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DE0D8"/>
                </a:solidFill>
                <a:latin typeface="Calibri"/>
              </a:rPr>
              <a:t>TECHNICAL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0515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2F7FA"/>
                </a:solidFill>
                <a:latin typeface="Calibri"/>
              </a:rPr>
              <a:t>Architecture &amp; stack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" y="1371600"/>
            <a:ext cx="932688" cy="658368"/>
          </a:xfrm>
          <a:prstGeom prst="roundRect">
            <a:avLst>
              <a:gd name="adj" fmla="val 12000"/>
            </a:avLst>
          </a:prstGeom>
          <a:solidFill>
            <a:srgbClr val="163A5C"/>
          </a:solidFill>
          <a:ln w="15875">
            <a:solidFill>
              <a:srgbClr val="2D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830" b="1">
                <a:solidFill>
                  <a:srgbClr val="F2F7FA"/>
                </a:solidFill>
                <a:latin typeface="Calibri"/>
              </a:rPr>
              <a:t>RAW
SONAR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55851.5" y="1700784.0"/>
            <a:ext cx="68580.0" cy="0.0"/>
          </a:xfrm>
          <a:prstGeom prst="line">
            <a:avLst/>
          </a:prstGeom>
          <a:ln w="15875">
            <a:solidFill>
              <a:srgbClr val="5B9E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624431" y="1371600"/>
            <a:ext cx="932688" cy="658368"/>
          </a:xfrm>
          <a:prstGeom prst="roundRect">
            <a:avLst>
              <a:gd name="adj" fmla="val 12000"/>
            </a:avLst>
          </a:prstGeom>
          <a:solidFill>
            <a:srgbClr val="163A5C"/>
          </a:solidFill>
          <a:ln w="15875">
            <a:solidFill>
              <a:srgbClr val="2D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830" b="1">
                <a:solidFill>
                  <a:srgbClr val="F2F7FA"/>
                </a:solidFill>
                <a:latin typeface="Calibri"/>
              </a:rPr>
              <a:t>QC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57119.5" y="1700784.0"/>
            <a:ext cx="68580.0" cy="0.0"/>
          </a:xfrm>
          <a:prstGeom prst="line">
            <a:avLst/>
          </a:prstGeom>
          <a:ln w="15875">
            <a:solidFill>
              <a:srgbClr val="5B9E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625699" y="1371600"/>
            <a:ext cx="932688" cy="658368"/>
          </a:xfrm>
          <a:prstGeom prst="roundRect">
            <a:avLst>
              <a:gd name="adj" fmla="val 12000"/>
            </a:avLst>
          </a:prstGeom>
          <a:solidFill>
            <a:srgbClr val="081422"/>
          </a:solidFill>
          <a:ln w="15875">
            <a:solidFill>
              <a:srgbClr val="F5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830" b="1">
                <a:solidFill>
                  <a:srgbClr val="F5B341"/>
                </a:solidFill>
                <a:latin typeface="Calibri"/>
              </a:rPr>
              <a:t>PRE-
PROCESS
(off)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58387.5" y="1700784.0"/>
            <a:ext cx="68580.0" cy="0.0"/>
          </a:xfrm>
          <a:prstGeom prst="line">
            <a:avLst/>
          </a:prstGeom>
          <a:ln w="15875">
            <a:solidFill>
              <a:srgbClr val="5B9E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626967" y="1371600"/>
            <a:ext cx="932688" cy="658368"/>
          </a:xfrm>
          <a:prstGeom prst="roundRect">
            <a:avLst>
              <a:gd name="adj" fmla="val 12000"/>
            </a:avLst>
          </a:prstGeom>
          <a:solidFill>
            <a:srgbClr val="163A5C"/>
          </a:solidFill>
          <a:ln w="15875">
            <a:solidFill>
              <a:srgbClr val="2D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830" b="1">
                <a:solidFill>
                  <a:srgbClr val="F2F7FA"/>
                </a:solidFill>
                <a:latin typeface="Calibri"/>
              </a:rPr>
              <a:t>TILING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59655.5" y="1700784.0"/>
            <a:ext cx="68580.0" cy="0.0"/>
          </a:xfrm>
          <a:prstGeom prst="line">
            <a:avLst/>
          </a:prstGeom>
          <a:ln w="15875">
            <a:solidFill>
              <a:srgbClr val="5B9E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628235" y="1371600"/>
            <a:ext cx="932688" cy="658368"/>
          </a:xfrm>
          <a:prstGeom prst="roundRect">
            <a:avLst>
              <a:gd name="adj" fmla="val 12000"/>
            </a:avLst>
          </a:prstGeom>
          <a:solidFill>
            <a:srgbClr val="163A5C"/>
          </a:solidFill>
          <a:ln w="15875">
            <a:solidFill>
              <a:srgbClr val="2D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830" b="1">
                <a:solidFill>
                  <a:srgbClr val="F2F7FA"/>
                </a:solidFill>
                <a:latin typeface="Calibri"/>
              </a:rPr>
              <a:t>DETECTION
YOLO11n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560923.5" y="1700784.0"/>
            <a:ext cx="68580.0" cy="0.0"/>
          </a:xfrm>
          <a:prstGeom prst="line">
            <a:avLst/>
          </a:prstGeom>
          <a:ln w="15875">
            <a:solidFill>
              <a:srgbClr val="5B9E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629503" y="1371600"/>
            <a:ext cx="932688" cy="658368"/>
          </a:xfrm>
          <a:prstGeom prst="roundRect">
            <a:avLst>
              <a:gd name="adj" fmla="val 12000"/>
            </a:avLst>
          </a:prstGeom>
          <a:solidFill>
            <a:srgbClr val="163A5C"/>
          </a:solidFill>
          <a:ln w="15875">
            <a:solidFill>
              <a:srgbClr val="2D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830" b="1">
                <a:solidFill>
                  <a:srgbClr val="F2F7FA"/>
                </a:solidFill>
                <a:latin typeface="Calibri"/>
              </a:rPr>
              <a:t>FP
FILTER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62191.5" y="1700784.0"/>
            <a:ext cx="68580.0" cy="0.0"/>
          </a:xfrm>
          <a:prstGeom prst="line">
            <a:avLst/>
          </a:prstGeom>
          <a:ln w="15875">
            <a:solidFill>
              <a:srgbClr val="5B9E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630771" y="1371600"/>
            <a:ext cx="932688" cy="658368"/>
          </a:xfrm>
          <a:prstGeom prst="roundRect">
            <a:avLst>
              <a:gd name="adj" fmla="val 12000"/>
            </a:avLst>
          </a:prstGeom>
          <a:solidFill>
            <a:srgbClr val="163A5C"/>
          </a:solidFill>
          <a:ln w="15875">
            <a:solidFill>
              <a:srgbClr val="2D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830" b="1">
                <a:solidFill>
                  <a:srgbClr val="F2F7FA"/>
                </a:solidFill>
                <a:latin typeface="Calibri"/>
              </a:rPr>
              <a:t>CALI-
BRATION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563459.5" y="1700784.0"/>
            <a:ext cx="68580.0" cy="0.0"/>
          </a:xfrm>
          <a:prstGeom prst="line">
            <a:avLst/>
          </a:prstGeom>
          <a:ln w="15875">
            <a:solidFill>
              <a:srgbClr val="5B9E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632039" y="1371600"/>
            <a:ext cx="932688" cy="658368"/>
          </a:xfrm>
          <a:prstGeom prst="roundRect">
            <a:avLst>
              <a:gd name="adj" fmla="val 12000"/>
            </a:avLst>
          </a:prstGeom>
          <a:solidFill>
            <a:srgbClr val="163A5C"/>
          </a:solidFill>
          <a:ln w="15875">
            <a:solidFill>
              <a:srgbClr val="2D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830" b="1">
                <a:solidFill>
                  <a:srgbClr val="F2F7FA"/>
                </a:solidFill>
                <a:latin typeface="Calibri"/>
              </a:rPr>
              <a:t>DEDUP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564727.5" y="1700784.0"/>
            <a:ext cx="68580.0" cy="0.0"/>
          </a:xfrm>
          <a:prstGeom prst="line">
            <a:avLst/>
          </a:prstGeom>
          <a:ln w="15875">
            <a:solidFill>
              <a:srgbClr val="5B9E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633307" y="1371600"/>
            <a:ext cx="932688" cy="658368"/>
          </a:xfrm>
          <a:prstGeom prst="roundRect">
            <a:avLst>
              <a:gd name="adj" fmla="val 12000"/>
            </a:avLst>
          </a:prstGeom>
          <a:solidFill>
            <a:srgbClr val="163A5C"/>
          </a:solidFill>
          <a:ln w="15875">
            <a:solidFill>
              <a:srgbClr val="2D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830" b="1">
                <a:solidFill>
                  <a:srgbClr val="F2F7FA"/>
                </a:solidFill>
                <a:latin typeface="Calibri"/>
              </a:rPr>
              <a:t>GEO-
LOCATE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565995.5" y="1700784.0"/>
            <a:ext cx="68580.0" cy="0.0"/>
          </a:xfrm>
          <a:prstGeom prst="line">
            <a:avLst/>
          </a:prstGeom>
          <a:ln w="15875">
            <a:solidFill>
              <a:srgbClr val="5B9E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634575" y="1371600"/>
            <a:ext cx="932688" cy="658368"/>
          </a:xfrm>
          <a:prstGeom prst="roundRect">
            <a:avLst>
              <a:gd name="adj" fmla="val 12000"/>
            </a:avLst>
          </a:prstGeom>
          <a:solidFill>
            <a:srgbClr val="163A5C"/>
          </a:solidFill>
          <a:ln w="15875">
            <a:solidFill>
              <a:srgbClr val="2D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830" b="1">
                <a:solidFill>
                  <a:srgbClr val="F2F7FA"/>
                </a:solidFill>
                <a:latin typeface="Calibri"/>
              </a:rPr>
              <a:t>PRIORITY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567263.5" y="1700784.0"/>
            <a:ext cx="68580.0" cy="0.0"/>
          </a:xfrm>
          <a:prstGeom prst="line">
            <a:avLst/>
          </a:prstGeom>
          <a:ln w="15875">
            <a:solidFill>
              <a:srgbClr val="5B9E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635843" y="1371600"/>
            <a:ext cx="932688" cy="658368"/>
          </a:xfrm>
          <a:prstGeom prst="roundRect">
            <a:avLst>
              <a:gd name="adj" fmla="val 12000"/>
            </a:avLst>
          </a:prstGeom>
          <a:solidFill>
            <a:srgbClr val="163A5C"/>
          </a:solidFill>
          <a:ln w="15875">
            <a:solidFill>
              <a:srgbClr val="2D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830" b="1">
                <a:solidFill>
                  <a:srgbClr val="F2F7FA"/>
                </a:solidFill>
                <a:latin typeface="Calibri"/>
              </a:rPr>
              <a:t>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163" y="2103120"/>
            <a:ext cx="10945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1">
                <a:solidFill>
                  <a:srgbClr val="F5B341"/>
                </a:solidFill>
                <a:latin typeface="Calibri"/>
              </a:rPr>
              <a:t>preprocessing implemented, measured, disabled by default — it made detection worse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502920" y="2697480"/>
          <a:ext cx="6537960" cy="3063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5120640"/>
              </a:tblGrid>
              <a:tr h="437605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DE0D8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 marL="76200" marR="76200" marT="38100" marB="38100" anchor="ctr">
                    <a:solidFill>
                      <a:srgbClr val="16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DE0D8"/>
                          </a:solidFill>
                          <a:latin typeface="Calibri"/>
                        </a:rPr>
                        <a:t>Substance</a:t>
                      </a:r>
                    </a:p>
                  </a:txBody>
                  <a:tcPr marL="76200" marR="76200" marT="38100" marB="38100" anchor="ctr">
                    <a:solidFill>
                      <a:srgbClr val="163A5C"/>
                    </a:solidFill>
                  </a:tcPr>
                </a:tc>
              </a:tr>
              <a:tr h="437605"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F2F7FA"/>
                          </a:solidFill>
                          <a:latin typeface="Calibri"/>
                        </a:rPr>
                        <a:t>QC</a:t>
                      </a:r>
                    </a:p>
                  </a:txBody>
                  <a:tcPr marL="76200" marR="76200" marT="38100" marB="38100" anchor="ctr">
                    <a:solidFill>
                      <a:srgbClr val="11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F2F7FA"/>
                          </a:solidFill>
                          <a:latin typeface="Calibri"/>
                        </a:rPr>
                        <a:t>Dynamic range, speckle index, dropout rows, water-column detection</a:t>
                      </a:r>
                    </a:p>
                  </a:txBody>
                  <a:tcPr marL="76200" marR="76200" marT="38100" marB="38100" anchor="ctr">
                    <a:solidFill>
                      <a:srgbClr val="112A44"/>
                    </a:solidFill>
                  </a:tcPr>
                </a:tc>
              </a:tr>
              <a:tr h="437605"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F2F7FA"/>
                          </a:solidFill>
                          <a:latin typeface="Calibri"/>
                        </a:rPr>
                        <a:t>Preprocessing</a:t>
                      </a:r>
                    </a:p>
                  </a:txBody>
                  <a:tcPr marL="76200" marR="76200" marT="38100" marB="38100" anchor="ctr">
                    <a:solidFill>
                      <a:srgbClr val="0B1E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F2F7FA"/>
                          </a:solidFill>
                          <a:latin typeface="Calibri"/>
                        </a:rPr>
                        <a:t>Dropout repair · water-column removal · Lee speckle filter · gain normalisation — off by default (measured, see Slide 5)</a:t>
                      </a:r>
                    </a:p>
                  </a:txBody>
                  <a:tcPr marL="76200" marR="76200" marT="38100" marB="38100" anchor="ctr">
                    <a:solidFill>
                      <a:srgbClr val="0B1E33"/>
                    </a:solidFill>
                  </a:tcPr>
                </a:tc>
              </a:tr>
              <a:tr h="437605"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F2F7FA"/>
                          </a:solidFill>
                          <a:latin typeface="Calibri"/>
                        </a:rPr>
                        <a:t>Tiling</a:t>
                      </a:r>
                    </a:p>
                  </a:txBody>
                  <a:tcPr marL="76200" marR="76200" marT="38100" marB="38100" anchor="ctr">
                    <a:solidFill>
                      <a:srgbClr val="11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F2F7FA"/>
                          </a:solidFill>
                          <a:latin typeface="Calibri"/>
                        </a:rPr>
                        <a:t>Overlapping tiles at native resolution; seam duplicates merged by IoU or intersection-over-smaller</a:t>
                      </a:r>
                    </a:p>
                  </a:txBody>
                  <a:tcPr marL="76200" marR="76200" marT="38100" marB="38100" anchor="ctr">
                    <a:solidFill>
                      <a:srgbClr val="112A44"/>
                    </a:solidFill>
                  </a:tcPr>
                </a:tc>
              </a:tr>
              <a:tr h="437605"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F2F7FA"/>
                          </a:solidFill>
                          <a:latin typeface="Calibri"/>
                        </a:rPr>
                        <a:t>Detection</a:t>
                      </a:r>
                    </a:p>
                  </a:txBody>
                  <a:tcPr marL="76200" marR="76200" marT="38100" marB="38100" anchor="ctr">
                    <a:solidFill>
                      <a:srgbClr val="0B1E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F2F7FA"/>
                          </a:solidFill>
                          <a:latin typeface="Calibri"/>
                        </a:rPr>
                        <a:t>YOLO11n — 2.58M params, 6.3 GFLOPs, backend-swappable</a:t>
                      </a:r>
                    </a:p>
                  </a:txBody>
                  <a:tcPr marL="76200" marR="76200" marT="38100" marB="38100" anchor="ctr">
                    <a:solidFill>
                      <a:srgbClr val="0B1E33"/>
                    </a:solidFill>
                  </a:tcPr>
                </a:tc>
              </a:tr>
              <a:tr h="437605"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F2F7FA"/>
                          </a:solidFill>
                          <a:latin typeface="Calibri"/>
                        </a:rPr>
                        <a:t>Verification</a:t>
                      </a:r>
                    </a:p>
                  </a:txBody>
                  <a:tcPr marL="76200" marR="76200" marT="38100" marB="38100" anchor="ctr">
                    <a:solidFill>
                      <a:srgbClr val="11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F2F7FA"/>
                          </a:solidFill>
                          <a:latin typeface="Calibri"/>
                        </a:rPr>
                        <a:t>10 physical features → logistic model fitted on held-out survey</a:t>
                      </a:r>
                    </a:p>
                  </a:txBody>
                  <a:tcPr marL="76200" marR="76200" marT="38100" marB="38100" anchor="ctr">
                    <a:solidFill>
                      <a:srgbClr val="112A44"/>
                    </a:solidFill>
                  </a:tcPr>
                </a:tc>
              </a:tr>
              <a:tr h="437610"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F2F7FA"/>
                          </a:solidFill>
                          <a:latin typeface="Calibri"/>
                        </a:rPr>
                        <a:t>Geolocation</a:t>
                      </a:r>
                    </a:p>
                  </a:txBody>
                  <a:tcPr marL="76200" marR="76200" marT="38100" marB="38100" anchor="ctr">
                    <a:solidFill>
                      <a:srgbClr val="0B1E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F2F7FA"/>
                          </a:solidFill>
                          <a:latin typeface="Calibri"/>
                        </a:rPr>
                        <a:t>GeoTIFF affine · per-ping navigation · or refuse with a stated reason</a:t>
                      </a:r>
                    </a:p>
                  </a:txBody>
                  <a:tcPr marL="76200" marR="76200" marT="38100" marB="38100" anchor="ctr">
                    <a:solidFill>
                      <a:srgbClr val="0B1E33"/>
                    </a:solidFill>
                  </a:tcPr>
                </a:tc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7360920" y="2697480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DE0D8"/>
                </a:solidFill>
                <a:latin typeface="Calibri"/>
              </a:rPr>
              <a:t>TECHNOLOGY STACK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60920" y="3063240"/>
            <a:ext cx="1321307" cy="310896"/>
          </a:xfrm>
          <a:prstGeom prst="roundRect">
            <a:avLst>
              <a:gd name="adj" fmla="val 50000"/>
            </a:avLst>
          </a:prstGeom>
          <a:solidFill>
            <a:srgbClr val="16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050" b="1">
                <a:solidFill>
                  <a:srgbClr val="F2F7FA"/>
                </a:solidFill>
                <a:latin typeface="Calibri"/>
              </a:rPr>
              <a:t>Python 3.12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60920" y="3447288"/>
            <a:ext cx="4709160" cy="310896"/>
          </a:xfrm>
          <a:prstGeom prst="roundRect">
            <a:avLst>
              <a:gd name="adj" fmla="val 50000"/>
            </a:avLst>
          </a:prstGeom>
          <a:solidFill>
            <a:srgbClr val="16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050" b="1">
                <a:solidFill>
                  <a:srgbClr val="F2F7FA"/>
                </a:solidFill>
                <a:latin typeface="Calibri"/>
              </a:rPr>
              <a:t>PyTorch 2.13 (MPS · CPU fallback, no CUDA assumed)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60920" y="3831336"/>
            <a:ext cx="886968" cy="310896"/>
          </a:xfrm>
          <a:prstGeom prst="roundRect">
            <a:avLst>
              <a:gd name="adj" fmla="val 50000"/>
            </a:avLst>
          </a:prstGeom>
          <a:solidFill>
            <a:srgbClr val="16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050" b="1">
                <a:solidFill>
                  <a:srgbClr val="F2F7FA"/>
                </a:solidFill>
                <a:latin typeface="Calibri"/>
              </a:rPr>
              <a:t>OpenCV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60920" y="4215384"/>
            <a:ext cx="886968" cy="310896"/>
          </a:xfrm>
          <a:prstGeom prst="roundRect">
            <a:avLst>
              <a:gd name="adj" fmla="val 50000"/>
            </a:avLst>
          </a:prstGeom>
          <a:solidFill>
            <a:srgbClr val="16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050" b="1">
                <a:solidFill>
                  <a:srgbClr val="F2F7FA"/>
                </a:solidFill>
                <a:latin typeface="Calibri"/>
              </a:rPr>
              <a:t>pyproj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60920" y="4599432"/>
            <a:ext cx="1147572" cy="310896"/>
          </a:xfrm>
          <a:prstGeom prst="roundRect">
            <a:avLst>
              <a:gd name="adj" fmla="val 50000"/>
            </a:avLst>
          </a:prstGeom>
          <a:solidFill>
            <a:srgbClr val="16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050" b="1">
                <a:solidFill>
                  <a:srgbClr val="F2F7FA"/>
                </a:solidFill>
                <a:latin typeface="Calibri"/>
              </a:rPr>
              <a:t>Streamlit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60920" y="4983480"/>
            <a:ext cx="973836" cy="310896"/>
          </a:xfrm>
          <a:prstGeom prst="roundRect">
            <a:avLst>
              <a:gd name="adj" fmla="val 50000"/>
            </a:avLst>
          </a:prstGeom>
          <a:solidFill>
            <a:srgbClr val="16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050" b="1">
                <a:solidFill>
                  <a:srgbClr val="F2F7FA"/>
                </a:solidFill>
                <a:latin typeface="Calibri"/>
              </a:rPr>
              <a:t>FastAPI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60920" y="5367528"/>
            <a:ext cx="886968" cy="310896"/>
          </a:xfrm>
          <a:prstGeom prst="roundRect">
            <a:avLst>
              <a:gd name="adj" fmla="val 50000"/>
            </a:avLst>
          </a:prstGeom>
          <a:solidFill>
            <a:srgbClr val="16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050" b="1">
                <a:solidFill>
                  <a:srgbClr val="F2F7FA"/>
                </a:solidFill>
                <a:latin typeface="Calibri"/>
              </a:rPr>
              <a:t>SQLite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60920" y="5751576"/>
            <a:ext cx="1408176" cy="310896"/>
          </a:xfrm>
          <a:prstGeom prst="roundRect">
            <a:avLst>
              <a:gd name="adj" fmla="val 50000"/>
            </a:avLst>
          </a:prstGeom>
          <a:solidFill>
            <a:srgbClr val="16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050" b="1">
                <a:solidFill>
                  <a:srgbClr val="F2F7FA"/>
                </a:solidFill>
                <a:latin typeface="Calibri"/>
              </a:rPr>
              <a:t>ONNX Runtime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B9EA8"/>
                </a:solidFill>
                <a:latin typeface="Calibri"/>
              </a:rPr>
              <a:t>AQUA-SHIELD</a:t>
            </a:r>
            <a:r>
              <a:rPr sz="950" b="0" i="0">
                <a:solidFill>
                  <a:srgbClr val="6E8499"/>
                </a:solidFill>
                <a:latin typeface="Calibri"/>
              </a:rPr>
              <a:t>  ·  PS 26057  ·  MoES / NIOT  ·  Disaster Management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E8499"/>
                </a:solidFill>
                <a:latin typeface="Calibri"/>
              </a:rPr>
              <a:t>3/6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8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27940"/>
          </a:xfrm>
          <a:prstGeom prst="rect">
            <a:avLst/>
          </a:prstGeom>
          <a:solidFill>
            <a:srgbClr val="2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8016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DE0D8"/>
                </a:solidFill>
                <a:latin typeface="Calibri"/>
              </a:rPr>
              <a:t>FEASIBILITY &amp; VIABILITY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0515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2F7FA"/>
                </a:solidFill>
                <a:latin typeface="Calibri"/>
              </a:rPr>
              <a:t>It already runs — measured, not projected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1783080" cy="960120"/>
          </a:xfrm>
          <a:prstGeom prst="rect">
            <a:avLst/>
          </a:prstGeom>
          <a:solidFill>
            <a:srgbClr val="112A44"/>
          </a:solidFill>
          <a:ln w="12700">
            <a:solidFill>
              <a:srgbClr val="16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353312"/>
            <a:ext cx="1563624" cy="4572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DE0D8"/>
                </a:solidFill>
                <a:latin typeface="Calibri"/>
              </a:rPr>
              <a:t>21.4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856232"/>
            <a:ext cx="156362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FB3C8"/>
                </a:solidFill>
                <a:latin typeface="Calibri"/>
              </a:rPr>
              <a:t>MPS inference / tile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95728" y="1280160"/>
            <a:ext cx="1783080" cy="960120"/>
          </a:xfrm>
          <a:prstGeom prst="rect">
            <a:avLst/>
          </a:prstGeom>
          <a:solidFill>
            <a:srgbClr val="112A44"/>
          </a:solidFill>
          <a:ln w="12700">
            <a:solidFill>
              <a:srgbClr val="16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05456" y="1353312"/>
            <a:ext cx="1563624" cy="4572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DE0D8"/>
                </a:solidFill>
                <a:latin typeface="Calibri"/>
              </a:rPr>
              <a:t>3.8×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5456" y="1856232"/>
            <a:ext cx="156362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FB3C8"/>
                </a:solidFill>
                <a:latin typeface="Calibri"/>
              </a:rPr>
              <a:t>MPS speed-up vs CPU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88536" y="1280160"/>
            <a:ext cx="1783080" cy="960120"/>
          </a:xfrm>
          <a:prstGeom prst="rect">
            <a:avLst/>
          </a:prstGeom>
          <a:solidFill>
            <a:srgbClr val="112A44"/>
          </a:solidFill>
          <a:ln w="12700">
            <a:solidFill>
              <a:srgbClr val="16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8264" y="1353312"/>
            <a:ext cx="1563624" cy="4572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DE0D8"/>
                </a:solidFill>
                <a:latin typeface="Calibri"/>
              </a:rPr>
              <a:t>37.4 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98264" y="1856232"/>
            <a:ext cx="156362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FB3C8"/>
                </a:solidFill>
                <a:latin typeface="Calibri"/>
              </a:rPr>
              <a:t>Throughput, frames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1344" y="1280160"/>
            <a:ext cx="1783080" cy="960120"/>
          </a:xfrm>
          <a:prstGeom prst="rect">
            <a:avLst/>
          </a:prstGeom>
          <a:solidFill>
            <a:srgbClr val="112A44"/>
          </a:solidFill>
          <a:ln w="12700">
            <a:solidFill>
              <a:srgbClr val="16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1072" y="1353312"/>
            <a:ext cx="1563624" cy="4572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DE0D8"/>
                </a:solidFill>
                <a:latin typeface="Calibri"/>
              </a:rPr>
              <a:t>640 MB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1072" y="1856232"/>
            <a:ext cx="156362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FB3C8"/>
                </a:solidFill>
                <a:latin typeface="Calibri"/>
              </a:rPr>
              <a:t>Peak memory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74152" y="1280160"/>
            <a:ext cx="1783080" cy="960120"/>
          </a:xfrm>
          <a:prstGeom prst="rect">
            <a:avLst/>
          </a:prstGeom>
          <a:solidFill>
            <a:srgbClr val="112A44"/>
          </a:solidFill>
          <a:ln w="12700">
            <a:solidFill>
              <a:srgbClr val="16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1353312"/>
            <a:ext cx="1563624" cy="4572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DE0D8"/>
                </a:solidFill>
                <a:latin typeface="Calibri"/>
              </a:rPr>
              <a:t>10.6 MB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1856232"/>
            <a:ext cx="156362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FB3C8"/>
                </a:solidFill>
                <a:latin typeface="Calibri"/>
              </a:rPr>
              <a:t>ONNX export size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66960" y="1280160"/>
            <a:ext cx="1719072" cy="960120"/>
          </a:xfrm>
          <a:prstGeom prst="rect">
            <a:avLst/>
          </a:prstGeom>
          <a:solidFill>
            <a:srgbClr val="112A44"/>
          </a:solidFill>
          <a:ln w="12700">
            <a:solidFill>
              <a:srgbClr val="16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76688" y="1353312"/>
            <a:ext cx="1499616" cy="4572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DE0D8"/>
                </a:solidFill>
                <a:latin typeface="Calibri"/>
              </a:rPr>
              <a:t>8.5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76688" y="1856232"/>
            <a:ext cx="149961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FB3C8"/>
                </a:solidFill>
                <a:latin typeface="Calibri"/>
              </a:rPr>
              <a:t>ONNX inference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331720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6E8499"/>
                </a:solidFill>
                <a:latin typeface="Calibri"/>
              </a:rPr>
              <a:t>Measured on an Apple M5, 24GB unified memory — a laptop, not a cluster.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2743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DE0D8"/>
                </a:solidFill>
                <a:latin typeface="Calibri"/>
              </a:rPr>
              <a:t>ABLATION — 612 held-out frames, 473 target-free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2920" y="3108960"/>
          <a:ext cx="5943600" cy="1417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1280160"/>
                <a:gridCol w="1371600"/>
                <a:gridCol w="1371600"/>
              </a:tblGrid>
              <a:tr h="35433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2DE0D8"/>
                          </a:solidFill>
                          <a:latin typeface="Calibri"/>
                        </a:rPr>
                        <a:t>Configuration</a:t>
                      </a:r>
                    </a:p>
                  </a:txBody>
                  <a:tcPr marL="76200" marR="76200" marT="38100" marB="38100" anchor="ctr">
                    <a:solidFill>
                      <a:srgbClr val="16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2DE0D8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76200" marR="76200" marT="38100" marB="38100" anchor="ctr">
                    <a:solidFill>
                      <a:srgbClr val="16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2DE0D8"/>
                          </a:solidFill>
                          <a:latin typeface="Calibri"/>
                        </a:rPr>
                        <a:t>True positives</a:t>
                      </a:r>
                    </a:p>
                  </a:txBody>
                  <a:tcPr marL="76200" marR="76200" marT="38100" marB="38100" anchor="ctr">
                    <a:solidFill>
                      <a:srgbClr val="16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2DE0D8"/>
                          </a:solidFill>
                          <a:latin typeface="Calibri"/>
                        </a:rPr>
                        <a:t>Falsely-alarmed frames</a:t>
                      </a:r>
                    </a:p>
                  </a:txBody>
                  <a:tcPr marL="76200" marR="76200" marT="38100" marB="38100" anchor="ctr">
                    <a:solidFill>
                      <a:srgbClr val="163A5C"/>
                    </a:solidFill>
                  </a:tcPr>
                </a:tc>
              </a:tr>
              <a:tr h="354330"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F2F7FA"/>
                          </a:solidFill>
                          <a:latin typeface="Calibri"/>
                        </a:rPr>
                        <a:t>Detector only</a:t>
                      </a:r>
                    </a:p>
                  </a:txBody>
                  <a:tcPr marL="76200" marR="76200" marT="38100" marB="38100" anchor="ctr">
                    <a:solidFill>
                      <a:srgbClr val="11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F2F7FA"/>
                          </a:solidFill>
                          <a:latin typeface="Calibri"/>
                        </a:rPr>
                        <a:t>0.247</a:t>
                      </a:r>
                    </a:p>
                  </a:txBody>
                  <a:tcPr marL="76200" marR="76200" marT="38100" marB="38100" anchor="ctr">
                    <a:solidFill>
                      <a:srgbClr val="11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F2F7F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76200" marR="76200" marT="38100" marB="38100" anchor="ctr">
                    <a:solidFill>
                      <a:srgbClr val="11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F2F7FA"/>
                          </a:solidFill>
                          <a:latin typeface="Calibri"/>
                        </a:rPr>
                        <a:t>37 / 473</a:t>
                      </a:r>
                    </a:p>
                  </a:txBody>
                  <a:tcPr marL="76200" marR="76200" marT="38100" marB="38100" anchor="ctr">
                    <a:solidFill>
                      <a:srgbClr val="112A44"/>
                    </a:solidFill>
                  </a:tcPr>
                </a:tc>
              </a:tr>
              <a:tr h="354330"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F2F7FA"/>
                          </a:solidFill>
                          <a:latin typeface="Calibri"/>
                        </a:rPr>
                        <a:t>+ hand-written rules</a:t>
                      </a:r>
                    </a:p>
                  </a:txBody>
                  <a:tcPr marL="76200" marR="76200" marT="38100" marB="38100" anchor="ctr">
                    <a:solidFill>
                      <a:srgbClr val="0B1E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F2F7FA"/>
                          </a:solidFill>
                          <a:latin typeface="Calibri"/>
                        </a:rPr>
                        <a:t>0.300</a:t>
                      </a:r>
                    </a:p>
                  </a:txBody>
                  <a:tcPr marL="76200" marR="76200" marT="38100" marB="38100" anchor="ctr">
                    <a:solidFill>
                      <a:srgbClr val="0B1E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F2F7F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76200" marR="76200" marT="38100" marB="38100" anchor="ctr">
                    <a:solidFill>
                      <a:srgbClr val="0B1E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F2F7FA"/>
                          </a:solidFill>
                          <a:latin typeface="Calibri"/>
                        </a:rPr>
                        <a:t>18 / 473</a:t>
                      </a:r>
                    </a:p>
                  </a:txBody>
                  <a:tcPr marL="76200" marR="76200" marT="38100" marB="38100" anchor="ctr">
                    <a:solidFill>
                      <a:srgbClr val="0B1E33"/>
                    </a:solidFill>
                  </a:tcPr>
                </a:tc>
              </a:tr>
              <a:tr h="354330"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F2F7FA"/>
                          </a:solidFill>
                          <a:latin typeface="Calibri"/>
                        </a:rPr>
                        <a:t>+ learned FP filter</a:t>
                      </a:r>
                    </a:p>
                  </a:txBody>
                  <a:tcPr marL="76200" marR="76200" marT="38100" marB="38100" anchor="ctr">
                    <a:solidFill>
                      <a:srgbClr val="11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F2F7FA"/>
                          </a:solidFill>
                          <a:latin typeface="Calibri"/>
                        </a:rPr>
                        <a:t>0.322</a:t>
                      </a:r>
                    </a:p>
                  </a:txBody>
                  <a:tcPr marL="76200" marR="76200" marT="38100" marB="38100" anchor="ctr">
                    <a:solidFill>
                      <a:srgbClr val="11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F2F7F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76200" marR="76200" marT="38100" marB="38100" anchor="ctr">
                    <a:solidFill>
                      <a:srgbClr val="11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F2F7FA"/>
                          </a:solidFill>
                          <a:latin typeface="Calibri"/>
                        </a:rPr>
                        <a:t>25 / 473</a:t>
                      </a:r>
                    </a:p>
                  </a:txBody>
                  <a:tcPr marL="76200" marR="76200" marT="38100" marB="38100" anchor="ctr">
                    <a:solidFill>
                      <a:srgbClr val="112A44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502920" y="4709160"/>
            <a:ext cx="5943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DE0D8"/>
                </a:solidFill>
                <a:latin typeface="Calibri"/>
              </a:rPr>
              <a:t>Data legitimacy — </a:t>
            </a:r>
            <a:r>
              <a:rPr sz="1150" b="0" i="0">
                <a:solidFill>
                  <a:srgbClr val="9FB3C8"/>
                </a:solidFill>
                <a:latin typeface="Calibri"/>
              </a:rPr>
              <a:t>MILCO/NOMBO real AUV side-scan, CC BY 4.0, DOI 10.6084/m9.figshare.24574879. Derelict crab-pot ghost gear, CC BY-SA 4.0 (PINGEcosystem). Every dependency licence verified programmatically.</a:t>
            </a:r>
          </a:p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DE0D8"/>
                </a:solidFill>
                <a:latin typeface="Calibri"/>
              </a:rPr>
              <a:t>Evaluated honestly — </a:t>
            </a:r>
            <a:r>
              <a:rPr sz="1150" b="0" i="0">
                <a:solidFill>
                  <a:srgbClr val="9FB3C8"/>
                </a:solidFill>
                <a:latin typeface="Calibri"/>
              </a:rPr>
              <a:t>split by acquisition year / recording ID, never randomly. Train 2015+2010 → calibrate 2017 → test 2018+2021. A random split leaks: consecutive frames share seabed, gain settings, and often the same object.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20840" y="2743200"/>
            <a:ext cx="4983480" cy="3703320"/>
          </a:xfrm>
          <a:prstGeom prst="rect">
            <a:avLst/>
          </a:prstGeom>
          <a:solidFill>
            <a:srgbClr val="081422"/>
          </a:solidFill>
          <a:ln w="12700">
            <a:solidFill>
              <a:srgbClr val="16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03720" y="28803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DE0D8"/>
                </a:solidFill>
                <a:latin typeface="Calibri"/>
              </a:rPr>
              <a:t>RISKS &amp; MITIGATION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03720" y="3246120"/>
            <a:ext cx="46177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120" b="1">
                <a:solidFill>
                  <a:srgbClr val="2DE0D8"/>
                </a:solidFill>
                <a:latin typeface="Calibri"/>
              </a:rPr>
              <a:t>▸  </a:t>
            </a:r>
            <a:r>
              <a:rPr sz="1120" b="0">
                <a:solidFill>
                  <a:srgbClr val="F2F7FA"/>
                </a:solidFill>
                <a:latin typeface="Calibri"/>
              </a:rPr>
              <a:t>Coastal SSS training data is scarce.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120" b="0">
                <a:solidFill>
                  <a:srgbClr val="6E8499"/>
                </a:solidFill>
                <a:latin typeface="Calibri"/>
              </a:rPr>
              <a:t>    –  </a:t>
            </a:r>
            <a:r>
              <a:rPr sz="1070" b="0">
                <a:solidFill>
                  <a:srgbClr val="9FB3C8"/>
                </a:solidFill>
                <a:latin typeface="Calibri"/>
              </a:rPr>
              <a:t>Mitigated with leakage-free, recording-level splitting and honest reporting rather than inflated splits.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120" b="1">
                <a:solidFill>
                  <a:srgbClr val="2DE0D8"/>
                </a:solidFill>
                <a:latin typeface="Calibri"/>
              </a:rPr>
              <a:t>▸  </a:t>
            </a:r>
            <a:r>
              <a:rPr sz="1120" b="0">
                <a:solidFill>
                  <a:srgbClr val="F2F7FA"/>
                </a:solidFill>
                <a:latin typeface="Calibri"/>
              </a:rPr>
              <a:t>Detection backend (Ultralytics) is AGPL-3.0.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120" b="0">
                <a:solidFill>
                  <a:srgbClr val="6E8499"/>
                </a:solidFill>
                <a:latin typeface="Calibri"/>
              </a:rPr>
              <a:t>    –  </a:t>
            </a:r>
            <a:r>
              <a:rPr sz="1070" b="0">
                <a:solidFill>
                  <a:srgbClr val="9FB3C8"/>
                </a:solidFill>
                <a:latin typeface="Calibri"/>
              </a:rPr>
              <a:t>Architecture keeps the detector backend swappable; ONNX export path is backend-independent.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120" b="1">
                <a:solidFill>
                  <a:srgbClr val="2DE0D8"/>
                </a:solidFill>
                <a:latin typeface="Calibri"/>
              </a:rPr>
              <a:t>▸  </a:t>
            </a:r>
            <a:r>
              <a:rPr sz="1120" b="0">
                <a:solidFill>
                  <a:srgbClr val="F2F7FA"/>
                </a:solidFill>
                <a:latin typeface="Calibri"/>
              </a:rPr>
              <a:t>Compute is constrained on AUV/edge hardware.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120" b="0">
                <a:solidFill>
                  <a:srgbClr val="6E8499"/>
                </a:solidFill>
                <a:latin typeface="Calibri"/>
              </a:rPr>
              <a:t>    –  </a:t>
            </a:r>
            <a:r>
              <a:rPr sz="1070" b="0">
                <a:solidFill>
                  <a:srgbClr val="9FB3C8"/>
                </a:solidFill>
                <a:latin typeface="Calibri"/>
              </a:rPr>
              <a:t>ONNX export measured at 10.6MB / 8.5ms — sized for edge deployment, not just the dev laptop.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120" b="1">
                <a:solidFill>
                  <a:srgbClr val="2DE0D8"/>
                </a:solidFill>
                <a:latin typeface="Calibri"/>
              </a:rPr>
              <a:t>▸  </a:t>
            </a:r>
            <a:r>
              <a:rPr sz="1120" i="0" b="0">
                <a:solidFill>
                  <a:srgbClr val="F5B341"/>
                </a:solidFill>
                <a:latin typeface="Calibri"/>
              </a:rPr>
              <a:t>Detection collapses under added speckle noise (measured).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120" b="0">
                <a:solidFill>
                  <a:srgbClr val="6E8499"/>
                </a:solidFill>
                <a:latin typeface="Calibri"/>
              </a:rPr>
              <a:t>    –  </a:t>
            </a:r>
            <a:r>
              <a:rPr sz="1070" b="0">
                <a:solidFill>
                  <a:srgbClr val="9FB3C8"/>
                </a:solidFill>
                <a:latin typeface="Calibri"/>
              </a:rPr>
              <a:t>Alternative noise-robust checkpoint trained and shipped separately, honestly labelled as a trade-off, not silently swapped in.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B9EA8"/>
                </a:solidFill>
                <a:latin typeface="Calibri"/>
              </a:rPr>
              <a:t>AQUA-SHIELD</a:t>
            </a:r>
            <a:r>
              <a:rPr sz="950" b="0" i="0">
                <a:solidFill>
                  <a:srgbClr val="6E8499"/>
                </a:solidFill>
                <a:latin typeface="Calibri"/>
              </a:rPr>
              <a:t>  ·  PS 26057  ·  MoES / NIOT  ·  Disaster Management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E8499"/>
                </a:solidFill>
                <a:latin typeface="Calibri"/>
              </a:rPr>
              <a:t>4/6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8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27940"/>
          </a:xfrm>
          <a:prstGeom prst="rect">
            <a:avLst/>
          </a:prstGeom>
          <a:solidFill>
            <a:srgbClr val="2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8016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DE0D8"/>
                </a:solidFill>
                <a:latin typeface="Calibri"/>
              </a:rPr>
              <a:t>IMPACT &amp; BENEFITS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0515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2F7FA"/>
                </a:solidFill>
                <a:latin typeface="Calibri"/>
              </a:rPr>
              <a:t>Measured outcomes, not projections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2606040" cy="1051560"/>
          </a:xfrm>
          <a:prstGeom prst="rect">
            <a:avLst/>
          </a:prstGeom>
          <a:solidFill>
            <a:srgbClr val="112A44"/>
          </a:solidFill>
          <a:ln w="12700">
            <a:solidFill>
              <a:srgbClr val="16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353312"/>
            <a:ext cx="2386584" cy="54864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5DD98B"/>
                </a:solidFill>
                <a:latin typeface="Calibri"/>
              </a:rPr>
              <a:t>37 →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947672"/>
            <a:ext cx="238658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FB3C8"/>
                </a:solidFill>
                <a:latin typeface="Calibri"/>
              </a:rPr>
              <a:t>Falsely-alarmed frames / 473 (−32%)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1280160"/>
            <a:ext cx="2606040" cy="1051560"/>
          </a:xfrm>
          <a:prstGeom prst="rect">
            <a:avLst/>
          </a:prstGeom>
          <a:solidFill>
            <a:srgbClr val="112A44"/>
          </a:solidFill>
          <a:ln w="12700">
            <a:solidFill>
              <a:srgbClr val="16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55848" y="1353312"/>
            <a:ext cx="2386584" cy="54864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5DD98B"/>
                </a:solidFill>
                <a:latin typeface="Calibri"/>
              </a:rPr>
              <a:t>0.247 → 0.322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5848" y="1947672"/>
            <a:ext cx="238658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FB3C8"/>
                </a:solidFill>
                <a:latin typeface="Calibri"/>
              </a:rPr>
              <a:t>Verification-stage precision (+30%)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89320" y="1280160"/>
            <a:ext cx="2606040" cy="1051560"/>
          </a:xfrm>
          <a:prstGeom prst="rect">
            <a:avLst/>
          </a:prstGeom>
          <a:solidFill>
            <a:srgbClr val="112A44"/>
          </a:solidFill>
          <a:ln w="12700">
            <a:solidFill>
              <a:srgbClr val="16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9048" y="1353312"/>
            <a:ext cx="2386584" cy="54864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DE0D8"/>
                </a:solidFill>
                <a:latin typeface="Calibri"/>
              </a:rPr>
              <a:t>19 / 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8" y="1947672"/>
            <a:ext cx="238658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FB3C8"/>
                </a:solidFill>
                <a:latin typeface="Calibri"/>
              </a:rPr>
              <a:t>True positives kept while cutting alarms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32520" y="1280160"/>
            <a:ext cx="2953512" cy="1051560"/>
          </a:xfrm>
          <a:prstGeom prst="rect">
            <a:avLst/>
          </a:prstGeom>
          <a:solidFill>
            <a:srgbClr val="112A44"/>
          </a:solidFill>
          <a:ln w="12700">
            <a:solidFill>
              <a:srgbClr val="16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42248" y="1353312"/>
            <a:ext cx="2734056" cy="54864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5B341"/>
                </a:solidFill>
                <a:latin typeface="Calibri"/>
              </a:rPr>
              <a:t>0.323 mAP50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42248" y="1947672"/>
            <a:ext cx="27340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FB3C8"/>
                </a:solidFill>
                <a:latin typeface="Calibri"/>
              </a:rPr>
              <a:t>First-ever ghost-gear result (E14, new)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20" y="2423160"/>
            <a:ext cx="2953512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F5B341"/>
                </a:solidFill>
                <a:latin typeface="Calibri"/>
              </a:rPr>
              <a:t>Raw training number — not yet through the verification/calibration stage. Reported as-is, not oversold.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514600"/>
            <a:ext cx="7863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DE0D8"/>
                </a:solidFill>
                <a:latin typeface="Calibri"/>
              </a:rPr>
              <a:t>OPERATIONAL BENEFIT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2880360"/>
            <a:ext cx="78638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1">
                <a:solidFill>
                  <a:srgbClr val="2DE0D8"/>
                </a:solidFill>
                <a:latin typeface="Calibri"/>
              </a:rPr>
              <a:t>▸  </a:t>
            </a:r>
            <a:r>
              <a:rPr sz="1250" b="0">
                <a:solidFill>
                  <a:srgbClr val="F2F7FA"/>
                </a:solidFill>
                <a:latin typeface="Calibri"/>
              </a:rPr>
              <a:t>The analyst reads a ranked hazard register instead of scrolling raw sonar imagery.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1">
                <a:solidFill>
                  <a:srgbClr val="2DE0D8"/>
                </a:solidFill>
                <a:latin typeface="Calibri"/>
              </a:rPr>
              <a:t>▸  </a:t>
            </a:r>
            <a:r>
              <a:rPr sz="1250" b="0">
                <a:solidFill>
                  <a:srgbClr val="F2F7FA"/>
                </a:solidFill>
                <a:latin typeface="Calibri"/>
              </a:rPr>
              <a:t>Output lands in QGIS as GeoJSON — a cleanup vessel can be tasked directly from the report.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1">
                <a:solidFill>
                  <a:srgbClr val="2DE0D8"/>
                </a:solidFill>
                <a:latin typeface="Calibri"/>
              </a:rPr>
              <a:t>▸  </a:t>
            </a:r>
            <a:r>
              <a:rPr sz="1250" b="0">
                <a:solidFill>
                  <a:srgbClr val="F2F7FA"/>
                </a:solidFill>
                <a:latin typeface="Calibri"/>
              </a:rPr>
              <a:t>Runs fully offline on survey hardware: no cloud, no per-image cost, no data leaving the ship.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1">
                <a:solidFill>
                  <a:srgbClr val="2DE0D8"/>
                </a:solidFill>
                <a:latin typeface="Calibri"/>
              </a:rPr>
              <a:t>▸  </a:t>
            </a:r>
            <a:r>
              <a:rPr sz="1250" b="0">
                <a:solidFill>
                  <a:srgbClr val="F2F7FA"/>
                </a:solidFill>
                <a:latin typeface="Calibri"/>
              </a:rPr>
              <a:t>Deduplication merges repeat sightings into unique hazards; positional uncertainty tightens by ~√N over repeat fixes.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709160"/>
            <a:ext cx="7863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DE0D8"/>
                </a:solidFill>
                <a:latin typeface="Calibri"/>
              </a:rPr>
              <a:t>WHO THIS SERVES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074920"/>
            <a:ext cx="7863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00" b="1">
                <a:solidFill>
                  <a:srgbClr val="2DE0D8"/>
                </a:solidFill>
                <a:latin typeface="Calibri"/>
              </a:rPr>
              <a:t>▸  </a:t>
            </a:r>
            <a:r>
              <a:rPr sz="1200" b="0">
                <a:solidFill>
                  <a:srgbClr val="F2F7FA"/>
                </a:solidFill>
                <a:latin typeface="Calibri"/>
              </a:rPr>
              <a:t>MoES / NIOT survey and cleanup operations — a direct fit for the problem statement's own agency.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00" b="1">
                <a:solidFill>
                  <a:srgbClr val="2DE0D8"/>
                </a:solidFill>
                <a:latin typeface="Calibri"/>
              </a:rPr>
              <a:t>▸  </a:t>
            </a:r>
            <a:r>
              <a:rPr sz="1200" b="0">
                <a:solidFill>
                  <a:srgbClr val="F2F7FA"/>
                </a:solidFill>
                <a:latin typeface="Calibri"/>
              </a:rPr>
              <a:t>Fisheries and coastal management — derelict gear ("ghost fishing") keeps killing catch and habitat long after it's lost.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00" b="1">
                <a:solidFill>
                  <a:srgbClr val="2DE0D8"/>
                </a:solidFill>
                <a:latin typeface="Calibri"/>
              </a:rPr>
              <a:t>▸  </a:t>
            </a:r>
            <a:r>
              <a:rPr sz="1200" i="0" b="0">
                <a:solidFill>
                  <a:srgbClr val="F5B341"/>
                </a:solidFill>
                <a:latin typeface="Calibri"/>
              </a:rPr>
              <a:t>We do not claim a percentage of analyst time saved — that needs a user study we have not run. What's shown here is a measured drop in false alarms and a measured processing rate.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B9EA8"/>
                </a:solidFill>
                <a:latin typeface="Calibri"/>
              </a:rPr>
              <a:t>AQUA-SHIELD</a:t>
            </a:r>
            <a:r>
              <a:rPr sz="950" b="0" i="0">
                <a:solidFill>
                  <a:srgbClr val="6E8499"/>
                </a:solidFill>
                <a:latin typeface="Calibri"/>
              </a:rPr>
              <a:t>  ·  PS 26057  ·  MoES / NIOT  ·  Disaster Management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E8499"/>
                </a:solidFill>
                <a:latin typeface="Calibri"/>
              </a:rPr>
              <a:t>5/6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8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27940"/>
          </a:xfrm>
          <a:prstGeom prst="rect">
            <a:avLst/>
          </a:prstGeom>
          <a:solidFill>
            <a:srgbClr val="2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8016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DE0D8"/>
                </a:solidFill>
                <a:latin typeface="Calibri"/>
              </a:rPr>
              <a:t>RESEARCH &amp; 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0515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2F7FA"/>
                </a:solidFill>
                <a:latin typeface="Calibri"/>
              </a:rPr>
              <a:t>Prior art, and what we take from it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25880"/>
          <a:ext cx="7360920" cy="28163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63240"/>
                <a:gridCol w="1234440"/>
                <a:gridCol w="306324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2DE0D8"/>
                          </a:solidFill>
                          <a:latin typeface="Calibri"/>
                        </a:rPr>
                        <a:t>Work</a:t>
                      </a:r>
                    </a:p>
                  </a:txBody>
                  <a:tcPr marL="76200" marR="76200" marT="38100" marB="38100" anchor="ctr">
                    <a:solidFill>
                      <a:srgbClr val="16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2DE0D8"/>
                          </a:solidFill>
                          <a:latin typeface="Calibri"/>
                        </a:rPr>
                        <a:t>Licence</a:t>
                      </a:r>
                    </a:p>
                  </a:txBody>
                  <a:tcPr marL="76200" marR="76200" marT="38100" marB="38100" anchor="ctr">
                    <a:solidFill>
                      <a:srgbClr val="16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2DE0D8"/>
                          </a:solidFill>
                          <a:latin typeface="Calibri"/>
                        </a:rPr>
                        <a:t>Relationship</a:t>
                      </a:r>
                    </a:p>
                  </a:txBody>
                  <a:tcPr marL="76200" marR="76200" marT="38100" marB="38100" anchor="ctr">
                    <a:solidFill>
                      <a:srgbClr val="163A5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F2F7FA"/>
                          </a:solidFill>
                          <a:latin typeface="Calibri"/>
                        </a:rPr>
                        <a:t>GhostVision (JMSE 14(10):951, 2025)</a:t>
                      </a:r>
                    </a:p>
                  </a:txBody>
                  <a:tcPr marL="76200" marR="76200" marT="38100" marB="38100" anchor="ctr">
                    <a:solidFill>
                      <a:srgbClr val="11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F2F7FA"/>
                          </a:solidFill>
                          <a:latin typeface="Calibri"/>
                        </a:rPr>
                        <a:t>NOASSERTION</a:t>
                      </a:r>
                    </a:p>
                  </a:txBody>
                  <a:tcPr marL="76200" marR="76200" marT="38100" marB="38100" anchor="ctr">
                    <a:solidFill>
                      <a:srgbClr val="11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F2F7FA"/>
                          </a:solidFill>
                          <a:latin typeface="Calibri"/>
                        </a:rPr>
                        <a:t>Closest system. Not vendored — licence unresolved.</a:t>
                      </a:r>
                    </a:p>
                  </a:txBody>
                  <a:tcPr marL="76200" marR="76200" marT="38100" marB="38100" anchor="ctr">
                    <a:solidFill>
                      <a:srgbClr val="112A4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F2F7FA"/>
                          </a:solidFill>
                          <a:latin typeface="Calibri"/>
                        </a:rPr>
                        <a:t>PINGMapper (Earth &amp; Space Science, 2022)</a:t>
                      </a:r>
                    </a:p>
                  </a:txBody>
                  <a:tcPr marL="76200" marR="76200" marT="38100" marB="38100" anchor="ctr">
                    <a:solidFill>
                      <a:srgbClr val="0B1E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F2F7FA"/>
                          </a:solidFill>
                          <a:latin typeface="Calibri"/>
                        </a:rPr>
                        <a:t>MIT</a:t>
                      </a:r>
                    </a:p>
                  </a:txBody>
                  <a:tcPr marL="76200" marR="76200" marT="38100" marB="38100" anchor="ctr">
                    <a:solidFill>
                      <a:srgbClr val="0B1E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F2F7FA"/>
                          </a:solidFill>
                          <a:latin typeface="Calibri"/>
                        </a:rPr>
                        <a:t>Pipeline shape and output conventions</a:t>
                      </a:r>
                    </a:p>
                  </a:txBody>
                  <a:tcPr marL="76200" marR="76200" marT="38100" marB="38100" anchor="ctr">
                    <a:solidFill>
                      <a:srgbClr val="0B1E3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F2F7FA"/>
                          </a:solidFill>
                          <a:latin typeface="Calibri"/>
                        </a:rPr>
                        <a:t>sidescantools</a:t>
                      </a:r>
                    </a:p>
                  </a:txBody>
                  <a:tcPr marL="76200" marR="76200" marT="38100" marB="38100" anchor="ctr">
                    <a:solidFill>
                      <a:srgbClr val="11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F2F7FA"/>
                          </a:solidFill>
                          <a:latin typeface="Calibri"/>
                        </a:rPr>
                        <a:t>GPL-3.0</a:t>
                      </a:r>
                    </a:p>
                  </a:txBody>
                  <a:tcPr marL="76200" marR="76200" marT="38100" marB="38100" anchor="ctr">
                    <a:solidFill>
                      <a:srgbClr val="11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F2F7FA"/>
                          </a:solidFill>
                          <a:latin typeface="Calibri"/>
                        </a:rPr>
                        <a:t>Studied; not vendored</a:t>
                      </a:r>
                    </a:p>
                  </a:txBody>
                  <a:tcPr marL="76200" marR="76200" marT="38100" marB="38100" anchor="ctr">
                    <a:solidFill>
                      <a:srgbClr val="112A4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F2F7FA"/>
                          </a:solidFill>
                          <a:latin typeface="Calibri"/>
                        </a:rPr>
                        <a:t>AI4Shipwrecks (arXiv 2401.14546)</a:t>
                      </a:r>
                    </a:p>
                  </a:txBody>
                  <a:tcPr marL="76200" marR="76200" marT="38100" marB="38100" anchor="ctr">
                    <a:solidFill>
                      <a:srgbClr val="0B1E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F2F7FA"/>
                          </a:solidFill>
                          <a:latin typeface="Calibri"/>
                        </a:rPr>
                        <a:t>MIT</a:t>
                      </a:r>
                    </a:p>
                  </a:txBody>
                  <a:tcPr marL="76200" marR="76200" marT="38100" marB="38100" anchor="ctr">
                    <a:solidFill>
                      <a:srgbClr val="0B1E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F2F7FA"/>
                          </a:solidFill>
                          <a:latin typeface="Calibri"/>
                        </a:rPr>
                        <a:t>Route to a wreck class later</a:t>
                      </a:r>
                    </a:p>
                  </a:txBody>
                  <a:tcPr marL="76200" marR="76200" marT="38100" marB="38100" anchor="ctr">
                    <a:solidFill>
                      <a:srgbClr val="0B1E3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F2F7FA"/>
                          </a:solidFill>
                          <a:latin typeface="Calibri"/>
                        </a:rPr>
                        <a:t>MILCO/NOMBO (Data in Brief 53:110132)</a:t>
                      </a:r>
                    </a:p>
                  </a:txBody>
                  <a:tcPr marL="76200" marR="76200" marT="38100" marB="38100" anchor="ctr">
                    <a:solidFill>
                      <a:srgbClr val="11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F2F7FA"/>
                          </a:solidFill>
                          <a:latin typeface="Calibri"/>
                        </a:rPr>
                        <a:t>CC BY 4.0</a:t>
                      </a:r>
                    </a:p>
                  </a:txBody>
                  <a:tcPr marL="76200" marR="76200" marT="38100" marB="38100" anchor="ctr">
                    <a:solidFill>
                      <a:srgbClr val="11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F2F7FA"/>
                          </a:solidFill>
                          <a:latin typeface="Calibri"/>
                        </a:rPr>
                        <a:t>Training data — naval mine-like objects</a:t>
                      </a:r>
                    </a:p>
                  </a:txBody>
                  <a:tcPr marL="76200" marR="76200" marT="38100" marB="38100" anchor="ctr">
                    <a:solidFill>
                      <a:srgbClr val="112A4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F2F7FA"/>
                          </a:solidFill>
                          <a:latin typeface="Calibri"/>
                        </a:rPr>
                        <a:t>sss-crab-pot-detection-ds (PINGEcosystem)</a:t>
                      </a:r>
                    </a:p>
                  </a:txBody>
                  <a:tcPr marL="76200" marR="76200" marT="38100" marB="38100" anchor="ctr">
                    <a:solidFill>
                      <a:srgbClr val="0B1E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F2F7FA"/>
                          </a:solidFill>
                          <a:latin typeface="Calibri"/>
                        </a:rPr>
                        <a:t>CC BY-SA 4.0</a:t>
                      </a:r>
                    </a:p>
                  </a:txBody>
                  <a:tcPr marL="76200" marR="76200" marT="38100" marB="38100" anchor="ctr">
                    <a:solidFill>
                      <a:srgbClr val="0B1E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F2F7FA"/>
                          </a:solidFill>
                          <a:latin typeface="Calibri"/>
                        </a:rPr>
                        <a:t>Training data — derelict ghost gear (E14, new)</a:t>
                      </a:r>
                    </a:p>
                  </a:txBody>
                  <a:tcPr marL="76200" marR="76200" marT="38100" marB="38100" anchor="ctr">
                    <a:solidFill>
                      <a:srgbClr val="0B1E33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114800"/>
            <a:ext cx="7360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DE0D8"/>
                </a:solidFill>
                <a:latin typeface="Calibri"/>
              </a:rPr>
              <a:t>METHOD REFERENCES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434840"/>
            <a:ext cx="7360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80" b="0" i="0">
                <a:solidFill>
                  <a:srgbClr val="9FB3C8"/>
                </a:solidFill>
                <a:latin typeface="Calibri"/>
              </a:rPr>
              <a:t>Lee (1980) adaptive speckle filtering  ·  Platt (1999) probabilistic outputs  ·  Guo et al. (2017) calibration of modern neural networks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074920"/>
            <a:ext cx="7360920" cy="1371600"/>
          </a:xfrm>
          <a:prstGeom prst="rect">
            <a:avLst/>
          </a:prstGeom>
          <a:solidFill>
            <a:srgbClr val="081422"/>
          </a:solidFill>
          <a:ln w="15875">
            <a:solidFill>
              <a:srgbClr val="F5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19379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5B341"/>
                </a:solidFill>
                <a:latin typeface="Calibri"/>
              </a:rPr>
              <a:t>WHAT WE HAVE NOT DONE — STATED DELIBERATELY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504688"/>
            <a:ext cx="69494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30" b="1">
                <a:solidFill>
                  <a:srgbClr val="2DE0D8"/>
                </a:solidFill>
                <a:latin typeface="Calibri"/>
              </a:rPr>
              <a:t>▸  </a:t>
            </a:r>
            <a:r>
              <a:rPr sz="1030" i="0" b="0">
                <a:solidFill>
                  <a:srgbClr val="F5B341"/>
                </a:solidFill>
                <a:latin typeface="Calibri"/>
              </a:rPr>
              <a:t>Ghost-gear detection has one raw training result (mAP50 0.32) — not yet run through verification, calibration, or full ablation.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30" b="1">
                <a:solidFill>
                  <a:srgbClr val="2DE0D8"/>
                </a:solidFill>
                <a:latin typeface="Calibri"/>
              </a:rPr>
              <a:t>▸  </a:t>
            </a:r>
            <a:r>
              <a:rPr sz="1030" i="0" b="0">
                <a:solidFill>
                  <a:srgbClr val="F5B341"/>
                </a:solidFill>
                <a:latin typeface="Calibri"/>
              </a:rPr>
              <a:t>Geolocation accuracy never validated (our data ships no navigation); detection degrades under added speckle noise; never run on a Jetson or an AUV; detector backend is AGPL-3.0.</a:t>
            </a:r>
          </a:p>
        </p:txBody>
      </p:sp>
      <p:pic>
        <p:nvPicPr>
          <p:cNvPr id="13" name="Picture 12" descr="failure_gall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9872" y="1325880"/>
            <a:ext cx="3794760" cy="463386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19872" y="6014609"/>
            <a:ext cx="3794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1">
                <a:solidFill>
                  <a:srgbClr val="6E8499"/>
                </a:solidFill>
                <a:latin typeface="Calibri"/>
              </a:rPr>
              <a:t>measured failure modes, shown not hidden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B9EA8"/>
                </a:solidFill>
                <a:latin typeface="Calibri"/>
              </a:rPr>
              <a:t>AQUA-SHIELD</a:t>
            </a:r>
            <a:r>
              <a:rPr sz="950" b="0" i="0">
                <a:solidFill>
                  <a:srgbClr val="6E8499"/>
                </a:solidFill>
                <a:latin typeface="Calibri"/>
              </a:rPr>
              <a:t>  ·  PS 26057  ·  MoES / NIOT  ·  Disaster Management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E8499"/>
                </a:solidFill>
                <a:latin typeface="Calibri"/>
              </a:rPr>
              <a:t>6/6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