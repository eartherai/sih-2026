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mdpi.com/2077-1312/14/10/951" TargetMode="External"/><Relationship Id="rId4" Type="http://schemas.openxmlformats.org/officeDocument/2006/relationships/hyperlink" Target="https://github.com/CameronBodine/PINGVerter" TargetMode="External"/><Relationship Id="rId5" Type="http://schemas.openxmlformats.org/officeDocument/2006/relationships/hyperlink" Target="https://github.com/sonoware/sidescantools" TargetMode="External"/><Relationship Id="rId6" Type="http://schemas.openxmlformats.org/officeDocument/2006/relationships/hyperlink" Target="https://arxiv.org/abs/2401.14546" TargetMode="External"/><Relationship Id="rId7" Type="http://schemas.openxmlformats.org/officeDocument/2006/relationships/hyperlink" Target="https://doi.org/10.1016/j.dib.2024.110132" TargetMode="External"/><Relationship Id="rId8" Type="http://schemas.openxmlformats.org/officeDocument/2006/relationships/hyperlink" Target="https://pubmed.ncbi.nlm.nih.gov/21868887/" TargetMode="External"/><Relationship Id="rId9" Type="http://schemas.openxmlformats.org/officeDocument/2006/relationships/hyperlink" Target="https://www.bibsonomy.org/bibtex/1c5df9f9137085cad9cafce3c347b2508" TargetMode="External"/><Relationship Id="rId10" Type="http://schemas.openxmlformats.org/officeDocument/2006/relationships/hyperlink" Target="https://arxiv.org/abs/1706.04599" TargetMode="External"/><Relationship Id="rId11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9282" y="947165"/>
            <a:ext cx="6212994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SIH26057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/>
              <a:t>AI-Powered Automated Underwater Marine Debris and Anomaly Detection System using Side-Scan Sonar Imagery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Disaster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AQUA-SHIELD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84878" y="1255465"/>
            <a:ext cx="9483517" cy="840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Problem: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Side-scan sonar surveys generate acoustic images in which most frames contain </a:t>
            </a:r>
            <a:r>
              <a:rPr lang="en-IN" sz="2000" b="1" dirty="0"/>
              <a:t>no actual target</a:t>
            </a:r>
            <a:r>
              <a:rPr lang="en-IN" sz="2000" dirty="0"/>
              <a:t>, creating false alarms.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Manual inspection is </a:t>
            </a:r>
            <a:r>
              <a:rPr lang="en-IN" sz="2000" b="1" dirty="0"/>
              <a:t>slow, fatiguing and inconsistent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Sonar clutter such as rocks, sand ripples and acoustic shadows can resemble hazards.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Proposed Solution: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AI-based side-scan sonar analysis pipeline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Detects candidate underwater anomalies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Verifies candidates using </a:t>
            </a:r>
            <a:r>
              <a:rPr lang="en-IN" sz="2000" b="1" dirty="0"/>
              <a:t>physical sonar evidence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Calibrates confidence and removes duplicate detections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Innovation: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Detection + independent physical verification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Learned false-positive filter instead of only hand-written rules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Self-diagnostic verification</a:t>
            </a:r>
            <a:r>
              <a:rPr lang="en-IN" sz="2000" dirty="0"/>
              <a:t> exposes preprocessing/data issues</a:t>
            </a:r>
          </a:p>
          <a:p>
            <a:pPr lvl="0"/>
            <a:endParaRPr lang="en-IN" sz="2000" dirty="0"/>
          </a:p>
          <a:p>
            <a:pPr lvl="0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0"/>
            <a:endParaRPr lang="en-IN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39710" y="1395246"/>
            <a:ext cx="3880861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+mn-lt"/>
                <a:cs typeface="Arial" pitchFamily="34" charset="0"/>
              </a:rPr>
              <a:t>Tech Stack: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+mn-lt"/>
              </a:rPr>
              <a:t>Python 3.12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+mn-lt"/>
              </a:rPr>
              <a:t>PyTorch</a:t>
            </a:r>
            <a:r>
              <a:rPr lang="en-IN" sz="2800" dirty="0">
                <a:latin typeface="+mn-lt"/>
              </a:rPr>
              <a:t> 2.13 OpenCV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+mn-lt"/>
              </a:rPr>
              <a:t>pyproj</a:t>
            </a:r>
            <a:endParaRPr lang="en-IN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+mn-lt"/>
              </a:rPr>
              <a:t>Streamlit</a:t>
            </a:r>
            <a:endParaRPr lang="en-IN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+mn-lt"/>
              </a:rPr>
              <a:t>FastAPI</a:t>
            </a:r>
            <a:endParaRPr lang="en-IN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+mn-lt"/>
              </a:rPr>
              <a:t>SQLite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+mn-lt"/>
              </a:rPr>
              <a:t>ONNX</a:t>
            </a:r>
          </a:p>
          <a:p>
            <a:pPr algn="just"/>
            <a:endParaRPr lang="en-US" sz="2800" b="1" dirty="0">
              <a:latin typeface="+mn-lt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C26124-AD4D-4BC1-EA05-34A7C858FB9C}"/>
              </a:ext>
            </a:extLst>
          </p:cNvPr>
          <p:cNvSpPr txBox="1"/>
          <p:nvPr/>
        </p:nvSpPr>
        <p:spPr>
          <a:xfrm>
            <a:off x="5402540" y="1395246"/>
            <a:ext cx="3491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Pipeline:</a:t>
            </a:r>
          </a:p>
          <a:p>
            <a:br>
              <a:rPr lang="en-IN" sz="1600" dirty="0"/>
            </a:br>
            <a:endParaRPr lang="en-IN" sz="16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54F0A7-84DA-9E6C-1771-1622FF8BD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868" y="1887042"/>
            <a:ext cx="6060311" cy="4040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7A0666-59FC-5A8D-8C18-0F90B6D51361}"/>
              </a:ext>
            </a:extLst>
          </p:cNvPr>
          <p:cNvSpPr txBox="1"/>
          <p:nvPr/>
        </p:nvSpPr>
        <p:spPr>
          <a:xfrm>
            <a:off x="483409" y="1229487"/>
            <a:ext cx="515083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Hardware Benchmarks: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CPU: Apple M5 (10-core)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GPU: Apple M5 GPU via MPS (no CUDA)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RAM: 24 GB unified memory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MPS tiled frame inference: 21.4ms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CPU fallback inference: 82.2ms (3.8 times slower)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Pipeline throughput: 37.4 frames/sec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Peak memory: 640 MB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ONNX model: 10.61 MB size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Execution time: 8.5ms</a:t>
            </a:r>
          </a:p>
          <a:p>
            <a:pPr lvl="0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FC16DF-F09F-A419-C5DA-C40C1F692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255881"/>
              </p:ext>
            </p:extLst>
          </p:nvPr>
        </p:nvGraphicFramePr>
        <p:xfrm>
          <a:off x="6339275" y="1611243"/>
          <a:ext cx="4927278" cy="22805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2426">
                  <a:extLst>
                    <a:ext uri="{9D8B030D-6E8A-4147-A177-3AD203B41FA5}">
                      <a16:colId xmlns:a16="http://schemas.microsoft.com/office/drawing/2014/main" val="3265071121"/>
                    </a:ext>
                  </a:extLst>
                </a:gridCol>
                <a:gridCol w="1642426">
                  <a:extLst>
                    <a:ext uri="{9D8B030D-6E8A-4147-A177-3AD203B41FA5}">
                      <a16:colId xmlns:a16="http://schemas.microsoft.com/office/drawing/2014/main" val="1786814200"/>
                    </a:ext>
                  </a:extLst>
                </a:gridCol>
                <a:gridCol w="1642426">
                  <a:extLst>
                    <a:ext uri="{9D8B030D-6E8A-4147-A177-3AD203B41FA5}">
                      <a16:colId xmlns:a16="http://schemas.microsoft.com/office/drawing/2014/main" val="777558067"/>
                    </a:ext>
                  </a:extLst>
                </a:gridCol>
              </a:tblGrid>
              <a:tr h="418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True Positives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False Alarms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581369"/>
                  </a:ext>
                </a:extLst>
              </a:tr>
              <a:tr h="418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Detector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774583"/>
                  </a:ext>
                </a:extLst>
              </a:tr>
              <a:tr h="722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Detector + Hand-Written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543750"/>
                  </a:ext>
                </a:extLst>
              </a:tr>
              <a:tr h="722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Detector + Learned FP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 b="1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 b="1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1317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DD3466-C112-09ED-5765-BBF98E6F8C21}"/>
              </a:ext>
            </a:extLst>
          </p:cNvPr>
          <p:cNvSpPr txBox="1"/>
          <p:nvPr/>
        </p:nvSpPr>
        <p:spPr>
          <a:xfrm>
            <a:off x="6250200" y="4359232"/>
            <a:ext cx="51971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Strategies to Overcome: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Learned physical-feature filter to reduce false alarms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Safe refusal when navigation metadata is missing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Modular design for new datasets/models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Ghost-gear model trained (E14): mAP50 0.32, first result, pending full verification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674F0E-D0FA-3522-1F55-1C5199E4E424}"/>
              </a:ext>
            </a:extLst>
          </p:cNvPr>
          <p:cNvSpPr txBox="1"/>
          <p:nvPr/>
        </p:nvSpPr>
        <p:spPr>
          <a:xfrm>
            <a:off x="6250200" y="1211886"/>
            <a:ext cx="60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Ablation Test: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50A887-1734-718C-8459-173A29A7F38D}"/>
              </a:ext>
            </a:extLst>
          </p:cNvPr>
          <p:cNvSpPr txBox="1"/>
          <p:nvPr/>
        </p:nvSpPr>
        <p:spPr>
          <a:xfrm>
            <a:off x="424240" y="4368808"/>
            <a:ext cx="60950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Potential Challenges &amp; Risks: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High false-positive rate from seabed clutter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Ghost-gear result is one raw run, not yet ablated or verified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Geolocation cannot be validated without navigation metadata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Modest detector accuracy on cross-survey data 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50369" y="1652658"/>
            <a:ext cx="93853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Potential Impact on Target Audience: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Faster underwater survey &amp; inspection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Reduces manual sonar-image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Helps operators identify and prioritize potential hazards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Supports marine cleanup and maritime safety 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Benefits of the Solution: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Environmental: Faster detection of underwater debris/hazards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Economic: Reduces survey time and manual inspection effort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Operational: Fewer false alarms gives more focused human review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Safety: Helps identify potential underwater hazards before 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Technical: Offline deployment with no cloud/API dependency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645687"/>
            <a:ext cx="93853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Prior Art Matrix:</a:t>
            </a:r>
            <a:endParaRPr lang="en-IN" sz="2000" dirty="0"/>
          </a:p>
          <a:p>
            <a:pPr lvl="0"/>
            <a:r>
              <a:rPr lang="en-IN" sz="2000" b="1" dirty="0" err="1"/>
              <a:t>GhostVision</a:t>
            </a:r>
            <a:r>
              <a:rPr lang="en-IN" sz="2000" b="1" dirty="0"/>
              <a:t> (JMSE 14(10):951, 2025):</a:t>
            </a:r>
            <a:r>
              <a:rPr lang="en-IN" sz="2000" dirty="0"/>
              <a:t> </a:t>
            </a:r>
            <a:r>
              <a:rPr lang="en-IN" sz="2000" dirty="0">
                <a:hlinkClick r:id="rId3"/>
              </a:rPr>
              <a:t>MDPI Journal of Marine Science and Engineering</a:t>
            </a:r>
            <a:endParaRPr lang="en-IN" sz="2000" dirty="0"/>
          </a:p>
          <a:p>
            <a:pPr lvl="0"/>
            <a:r>
              <a:rPr lang="en-IN" sz="2000" b="1" dirty="0" err="1"/>
              <a:t>PINGMapper</a:t>
            </a:r>
            <a:r>
              <a:rPr lang="en-IN" sz="2000" b="1" dirty="0"/>
              <a:t> (Earth &amp; Space Science, 2022):</a:t>
            </a:r>
            <a:r>
              <a:rPr lang="en-IN" sz="2000" dirty="0"/>
              <a:t> </a:t>
            </a:r>
            <a:r>
              <a:rPr lang="en-IN" sz="2000" dirty="0">
                <a:hlinkClick r:id="rId4"/>
              </a:rPr>
              <a:t>GitHub - </a:t>
            </a:r>
            <a:r>
              <a:rPr lang="en-IN" sz="2000" dirty="0" err="1">
                <a:hlinkClick r:id="rId4"/>
              </a:rPr>
              <a:t>CameronBodine</a:t>
            </a:r>
            <a:r>
              <a:rPr lang="en-IN" sz="2000" dirty="0">
                <a:hlinkClick r:id="rId4"/>
              </a:rPr>
              <a:t>/</a:t>
            </a:r>
            <a:r>
              <a:rPr lang="en-IN" sz="2000" dirty="0" err="1">
                <a:hlinkClick r:id="rId4"/>
              </a:rPr>
              <a:t>PINGVerter</a:t>
            </a:r>
            <a:endParaRPr lang="en-IN" sz="2000" dirty="0"/>
          </a:p>
          <a:p>
            <a:pPr lvl="0"/>
            <a:r>
              <a:rPr lang="en-IN" sz="2000" b="1" dirty="0" err="1"/>
              <a:t>sidescantools</a:t>
            </a:r>
            <a:r>
              <a:rPr lang="en-IN" sz="2000" b="1" dirty="0"/>
              <a:t>:</a:t>
            </a:r>
            <a:r>
              <a:rPr lang="en-IN" sz="2000" dirty="0"/>
              <a:t> </a:t>
            </a:r>
            <a:r>
              <a:rPr lang="en-IN" sz="2000" dirty="0">
                <a:hlinkClick r:id="rId5"/>
              </a:rPr>
              <a:t>GitHub - </a:t>
            </a:r>
            <a:r>
              <a:rPr lang="en-IN" sz="2000" dirty="0" err="1">
                <a:hlinkClick r:id="rId5"/>
              </a:rPr>
              <a:t>sonoware</a:t>
            </a:r>
            <a:r>
              <a:rPr lang="en-IN" sz="2000" dirty="0">
                <a:hlinkClick r:id="rId5"/>
              </a:rPr>
              <a:t>/</a:t>
            </a:r>
            <a:r>
              <a:rPr lang="en-IN" sz="2000" dirty="0" err="1">
                <a:hlinkClick r:id="rId5"/>
              </a:rPr>
              <a:t>sidescantools</a:t>
            </a:r>
            <a:endParaRPr lang="en-IN" sz="2000" dirty="0"/>
          </a:p>
          <a:p>
            <a:pPr lvl="0"/>
            <a:r>
              <a:rPr lang="en-IN" sz="2000" b="1" dirty="0"/>
              <a:t>AI4Shipwrecks (</a:t>
            </a:r>
            <a:r>
              <a:rPr lang="en-IN" sz="2000" b="1" dirty="0" err="1"/>
              <a:t>arXiv</a:t>
            </a:r>
            <a:r>
              <a:rPr lang="en-IN" sz="2000" b="1" dirty="0"/>
              <a:t> 2401.14546):</a:t>
            </a:r>
            <a:r>
              <a:rPr lang="en-IN" sz="2000" dirty="0"/>
              <a:t> </a:t>
            </a:r>
            <a:r>
              <a:rPr lang="en-IN" sz="2000" dirty="0">
                <a:hlinkClick r:id="rId6"/>
              </a:rPr>
              <a:t>arXiv:2401.14546</a:t>
            </a:r>
            <a:endParaRPr lang="en-IN" sz="2000" dirty="0"/>
          </a:p>
          <a:p>
            <a:pPr lvl="0"/>
            <a:r>
              <a:rPr lang="en-IN" sz="2000" b="1" dirty="0"/>
              <a:t>MILCO/NOMBO (Data in Brief 53:110132):</a:t>
            </a:r>
            <a:r>
              <a:rPr lang="en-IN" sz="2000" dirty="0"/>
              <a:t> </a:t>
            </a:r>
            <a:r>
              <a:rPr lang="en-IN" sz="2000" dirty="0">
                <a:hlinkClick r:id="rId7"/>
              </a:rPr>
              <a:t>ScienceDirect / Data in Brief</a:t>
            </a:r>
            <a:endParaRPr lang="en-IN" sz="2000" dirty="0"/>
          </a:p>
          <a:p>
            <a:pPr lvl="0"/>
            <a:endParaRPr lang="en-IN" sz="2000" dirty="0"/>
          </a:p>
          <a:p>
            <a:r>
              <a:rPr lang="en-IN" sz="2000" b="1" dirty="0"/>
              <a:t>Methodologies:</a:t>
            </a:r>
            <a:endParaRPr lang="en-IN" sz="2000" dirty="0"/>
          </a:p>
          <a:p>
            <a:pPr lvl="0"/>
            <a:r>
              <a:rPr lang="en-IN" sz="2000" b="1" dirty="0"/>
              <a:t>Lee (1980) - Adaptive speckle filtering:</a:t>
            </a:r>
            <a:r>
              <a:rPr lang="en-IN" sz="2000" dirty="0"/>
              <a:t> </a:t>
            </a:r>
            <a:r>
              <a:rPr lang="en-IN" sz="2000" dirty="0">
                <a:hlinkClick r:id="rId8"/>
              </a:rPr>
              <a:t>IEEE Xplore / PubMed</a:t>
            </a:r>
            <a:r>
              <a:rPr lang="en-IN" sz="2000" dirty="0"/>
              <a:t> (DOI: 10.1109/TPAMI.1980.4766994)</a:t>
            </a:r>
          </a:p>
          <a:p>
            <a:pPr lvl="0"/>
            <a:r>
              <a:rPr lang="en-IN" sz="2000" b="1" dirty="0"/>
              <a:t>Platt (1999) - Probabilistic calibration:</a:t>
            </a:r>
            <a:r>
              <a:rPr lang="en-IN" sz="2000" dirty="0"/>
              <a:t> </a:t>
            </a:r>
            <a:r>
              <a:rPr lang="en-IN" sz="2000" dirty="0">
                <a:hlinkClick r:id="rId9"/>
              </a:rPr>
              <a:t>Advances in Large Margin Classifiers (MIT Press)</a:t>
            </a:r>
            <a:endParaRPr lang="en-IN" sz="2000" dirty="0"/>
          </a:p>
          <a:p>
            <a:pPr lvl="0"/>
            <a:r>
              <a:rPr lang="en-IN" sz="2000" b="1" dirty="0"/>
              <a:t>Guo et al. (2017) - Neural-network calibration:</a:t>
            </a:r>
            <a:r>
              <a:rPr lang="en-IN" sz="2000" dirty="0"/>
              <a:t> </a:t>
            </a:r>
            <a:r>
              <a:rPr lang="en-IN" sz="2000" dirty="0">
                <a:hlinkClick r:id="rId10"/>
              </a:rPr>
              <a:t>arXiv:1706.04599</a:t>
            </a:r>
            <a:endParaRPr lang="en-IN" sz="2000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7573</TotalTime>
  <Words>692</Words>
  <Application>Microsoft Office PowerPoint</Application>
  <PresentationFormat>Widescreen</PresentationFormat>
  <Paragraphs>136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AQUA-SHIELD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prachi lad</cp:lastModifiedBy>
  <cp:revision>153</cp:revision>
  <dcterms:created xsi:type="dcterms:W3CDTF">2013-12-12T18:46:50Z</dcterms:created>
  <dcterms:modified xsi:type="dcterms:W3CDTF">2026-08-29T10:07:34Z</dcterms:modified>
  <cp:category/>
</cp:coreProperties>
</file>